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</p:sldMasterIdLst>
  <p:notesMasterIdLst>
    <p:notesMasterId r:id="rId16"/>
  </p:notesMasterIdLst>
  <p:sldIdLst>
    <p:sldId id="256" r:id="rId4"/>
    <p:sldId id="259" r:id="rId5"/>
    <p:sldId id="258" r:id="rId6"/>
    <p:sldId id="266" r:id="rId7"/>
    <p:sldId id="267" r:id="rId8"/>
    <p:sldId id="260" r:id="rId9"/>
    <p:sldId id="261" r:id="rId10"/>
    <p:sldId id="262" r:id="rId11"/>
    <p:sldId id="263" r:id="rId12"/>
    <p:sldId id="264" r:id="rId13"/>
    <p:sldId id="265" r:id="rId14"/>
    <p:sldId id="268" r:id="rId15"/>
  </p:sldIdLst>
  <p:sldSz cx="9144000" cy="6858000" type="screen4x3"/>
  <p:notesSz cx="6781800" cy="9925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C4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F1</c:v>
                </c:pt>
              </c:strCache>
            </c:strRef>
          </c:tx>
          <c:spPr>
            <a:solidFill>
              <a:srgbClr val="1FA3A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34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Extractive(XLM-R)</c:v>
                </c:pt>
                <c:pt idx="1">
                  <c:v>QLoRA 2B (trained)</c:v>
                </c:pt>
                <c:pt idx="2">
                  <c:v>HARBOR-QA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0.53800000000000003</c:v>
                </c:pt>
                <c:pt idx="1">
                  <c:v>0.63500000000000001</c:v>
                </c:pt>
                <c:pt idx="2">
                  <c:v>0.64749999999999996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4A-4FF0-AFBD-0E6BC1943A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F1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34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Extractive(XLM-R)</c:v>
                </c:pt>
                <c:pt idx="1">
                  <c:v>QLoRA 2B (trained)</c:v>
                </c:pt>
                <c:pt idx="2">
                  <c:v>HARBOR-QA (ours)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0.53900000000000003</c:v>
                </c:pt>
                <c:pt idx="1">
                  <c:v>0.628</c:v>
                </c:pt>
                <c:pt idx="2">
                  <c:v>0.65500000000000003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4A-4FF0-AFBD-0E6BC1943A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6782400" cy="992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38320" cy="496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dt" idx="4"/>
          </p:nvPr>
        </p:nvSpPr>
        <p:spPr>
          <a:xfrm>
            <a:off x="3841920" y="0"/>
            <a:ext cx="2938320" cy="496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909360" y="744120"/>
            <a:ext cx="4962600" cy="37227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1C1C1C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77880" y="4714560"/>
            <a:ext cx="5425920" cy="4467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Click to edit the notes format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ftr" idx="5"/>
          </p:nvPr>
        </p:nvSpPr>
        <p:spPr>
          <a:xfrm>
            <a:off x="0" y="9427680"/>
            <a:ext cx="2938320" cy="497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6"/>
          </p:nvPr>
        </p:nvSpPr>
        <p:spPr>
          <a:xfrm>
            <a:off x="3841920" y="9427680"/>
            <a:ext cx="2938320" cy="497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7E52962-CC66-46AF-AC3A-AB7897306FFF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09638" y="744538"/>
            <a:ext cx="4962525" cy="3722687"/>
          </a:xfrm>
          <a:prstGeom prst="rect">
            <a:avLst/>
          </a:prstGeom>
          <a:ln w="0">
            <a:noFill/>
          </a:ln>
        </p:spPr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77880" y="4714560"/>
            <a:ext cx="5425920" cy="446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CA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Slide Number Placeholder 3"/>
          <p:cNvSpPr/>
          <p:nvPr/>
        </p:nvSpPr>
        <p:spPr>
          <a:xfrm>
            <a:off x="3841920" y="9428040"/>
            <a:ext cx="293832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84DE1D-EB87-4213-8114-85DB27C9BF61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1" name="Date Placeholder 4"/>
          <p:cNvSpPr/>
          <p:nvPr/>
        </p:nvSpPr>
        <p:spPr>
          <a:xfrm>
            <a:off x="3841920" y="0"/>
            <a:ext cx="2938320" cy="4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4E7B7F6-C80F-40EA-A972-CE6FFB059D8E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6/14/2026</a:t>
            </a:fld>
            <a:endParaRPr lang="en-US" sz="1200" b="0" strike="noStrike" spc="-1">
              <a:solidFill>
                <a:srgbClr val="000000"/>
              </a:solidFill>
              <a:latin typeface="Arial Narrow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40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 lIns="18000" tIns="10800" rIns="18000" bIns="10800" anchor="ctr" anchorCtr="1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1C1C1C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44000" y="928800"/>
            <a:ext cx="8642520" cy="547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00"/>
              </a:spcBef>
              <a:buSzPct val="100000"/>
              <a:buBlip>
                <a:blip r:embed="rId3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743040" lvl="1" indent="-285840">
              <a:spcBef>
                <a:spcPts val="700"/>
              </a:spcBef>
              <a:buSzPct val="100000"/>
              <a:buBlip>
                <a:blip r:embed="rId4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143000" lvl="2" indent="-228600">
              <a:spcBef>
                <a:spcPts val="700"/>
              </a:spcBef>
              <a:buSzPct val="100000"/>
              <a:buBlip>
                <a:blip r:embed="rId5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1600200" lvl="3" indent="-228600">
              <a:spcBef>
                <a:spcPts val="700"/>
              </a:spcBef>
              <a:buSzPct val="100000"/>
              <a:buBlip>
                <a:blip r:embed="rId6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2057400" lvl="4" indent="-228600">
              <a:spcBef>
                <a:spcPts val="700"/>
              </a:spcBef>
              <a:buSzPct val="100000"/>
              <a:buBlip>
                <a:blip r:embed="rId7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2057400" lvl="5" indent="-228600">
              <a:spcBef>
                <a:spcPts val="700"/>
              </a:spcBef>
              <a:buSzPct val="100000"/>
              <a:buBlip>
                <a:blip r:embed="rId7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2057400" lvl="6" indent="-228600">
              <a:spcBef>
                <a:spcPts val="700"/>
              </a:spcBef>
              <a:buSzPct val="100000"/>
              <a:buBlip>
                <a:blip r:embed="rId7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sp>
        <p:nvSpPr>
          <p:cNvPr id="2" name="Rectangle 6"/>
          <p:cNvSpPr/>
          <p:nvPr/>
        </p:nvSpPr>
        <p:spPr>
          <a:xfrm>
            <a:off x="2857680" y="640080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6662DC6-72C1-4850-8308-5A5C29130993}" type="slidenum">
              <a:rPr lang="en-US" altLang="ko-KR" sz="1400" b="0" strike="noStrike" spc="-1">
                <a:solidFill>
                  <a:srgbClr val="000000"/>
                </a:solidFill>
                <a:latin typeface="Tahoma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6072120" y="6215040"/>
            <a:ext cx="3143160" cy="5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444444"/>
                </a:solidFill>
                <a:latin typeface="Constantia"/>
                <a:ea typeface="Times New Roman"/>
              </a:rPr>
              <a:t>Department of CSE, CUET</a:t>
            </a:r>
            <a:endParaRPr lang="en-US" sz="16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0" y="6351480"/>
            <a:ext cx="9144000" cy="6984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rgbClr val="D0D0D0"/>
              </a:gs>
            </a:gsLst>
            <a:lin ang="0"/>
          </a:gradFill>
          <a:ln w="3240">
            <a:solidFill>
              <a:srgbClr val="ABABA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23040" rIns="90000" bIns="230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0" y="857160"/>
            <a:ext cx="9144000" cy="71640"/>
          </a:xfrm>
          <a:prstGeom prst="rect">
            <a:avLst/>
          </a:prstGeom>
          <a:gradFill rotWithShape="0">
            <a:gsLst>
              <a:gs pos="0">
                <a:srgbClr val="766000"/>
              </a:gs>
              <a:gs pos="100000">
                <a:srgbClr val="FFDE53"/>
              </a:gs>
            </a:gsLst>
            <a:lin ang="0"/>
          </a:gradFill>
          <a:ln w="3240">
            <a:solidFill>
              <a:srgbClr val="E8BC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24840" rIns="90000" bIns="248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  <p:pic>
        <p:nvPicPr>
          <p:cNvPr id="6" name="Picture 8" descr="Picture1.jpg"/>
          <p:cNvPicPr/>
          <p:nvPr/>
        </p:nvPicPr>
        <p:blipFill>
          <a:blip r:embed="rId8"/>
          <a:stretch/>
        </p:blipFill>
        <p:spPr>
          <a:xfrm>
            <a:off x="71280" y="6215040"/>
            <a:ext cx="500400" cy="6145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898989"/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5B12BCB-2B9B-43B8-B897-C272F715D7A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/>
          <p:nvPr/>
        </p:nvSpPr>
        <p:spPr>
          <a:xfrm>
            <a:off x="495360" y="3933720"/>
            <a:ext cx="8153280" cy="93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3" name="Rectangle 7"/>
          <p:cNvSpPr/>
          <p:nvPr/>
        </p:nvSpPr>
        <p:spPr>
          <a:xfrm>
            <a:off x="0" y="2637000"/>
            <a:ext cx="9144000" cy="71280"/>
          </a:xfrm>
          <a:prstGeom prst="rect">
            <a:avLst/>
          </a:prstGeom>
          <a:gradFill rotWithShape="0">
            <a:gsLst>
              <a:gs pos="0">
                <a:srgbClr val="766000"/>
              </a:gs>
              <a:gs pos="100000">
                <a:srgbClr val="FFDE53"/>
              </a:gs>
            </a:gsLst>
            <a:lin ang="0"/>
          </a:gradFill>
          <a:ln w="3240">
            <a:solidFill>
              <a:srgbClr val="FFDE5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24480" rIns="90000" bIns="2448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  <p:pic>
        <p:nvPicPr>
          <p:cNvPr id="14" name="Picture 8" descr="neomail.gif"/>
          <p:cNvPicPr/>
          <p:nvPr/>
        </p:nvPicPr>
        <p:blipFill>
          <a:blip r:embed="rId3"/>
          <a:stretch/>
        </p:blipFill>
        <p:spPr>
          <a:xfrm>
            <a:off x="3648240" y="3429000"/>
            <a:ext cx="1685880" cy="198108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40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 lIns="18000" tIns="10800" rIns="18000" bIns="10800" anchor="ctr" anchorCtr="1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1C1C1C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44000" y="928800"/>
            <a:ext cx="8642520" cy="5472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00"/>
              </a:spcBef>
              <a:buSzPct val="100000"/>
              <a:buBlip>
                <a:blip r:embed="rId4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743040" lvl="1" indent="-285840">
              <a:spcBef>
                <a:spcPts val="700"/>
              </a:spcBef>
              <a:buSzPct val="100000"/>
              <a:buBlip>
                <a:blip r:embed="rId5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143000" lvl="2" indent="-228600">
              <a:spcBef>
                <a:spcPts val="700"/>
              </a:spcBef>
              <a:buSzPct val="100000"/>
              <a:buBlip>
                <a:blip r:embed="rId6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1600200" lvl="3" indent="-228600">
              <a:spcBef>
                <a:spcPts val="700"/>
              </a:spcBef>
              <a:buSzPct val="100000"/>
              <a:buBlip>
                <a:blip r:embed="rId7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2057400" lvl="4" indent="-228600">
              <a:spcBef>
                <a:spcPts val="700"/>
              </a:spcBef>
              <a:buSzPct val="100000"/>
              <a:buBlip>
                <a:blip r:embed="rId8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2057400" lvl="5" indent="-228600">
              <a:spcBef>
                <a:spcPts val="700"/>
              </a:spcBef>
              <a:buSzPct val="100000"/>
              <a:buBlip>
                <a:blip r:embed="rId8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2057400" lvl="6" indent="-228600">
              <a:spcBef>
                <a:spcPts val="700"/>
              </a:spcBef>
              <a:buSzPct val="100000"/>
              <a:buBlip>
                <a:blip r:embed="rId8"/>
              </a:buBlip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>
          <a:xfrm>
            <a:off x="685800" y="73944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buNone/>
            </a:pPr>
            <a:r>
              <a:rPr lang="en-US" sz="4400" b="1" strike="noStrike" spc="-1" dirty="0">
                <a:solidFill>
                  <a:srgbClr val="C09C00"/>
                </a:solidFill>
                <a:latin typeface="Times New Roman"/>
                <a:ea typeface="Times New Roman"/>
                <a:cs typeface="Times New Roman"/>
              </a:rPr>
              <a:t>HARBOR-QA</a:t>
            </a:r>
          </a:p>
        </p:txBody>
      </p:sp>
      <p:sp>
        <p:nvSpPr>
          <p:cNvPr id="30" name="Subtitle"/>
          <p:cNvSpPr txBox="1"/>
          <p:nvPr/>
        </p:nvSpPr>
        <p:spPr>
          <a:xfrm>
            <a:off x="644236" y="5833720"/>
            <a:ext cx="8001000" cy="1150000"/>
          </a:xfrm>
          <a:prstGeom prst="rect">
            <a:avLst/>
          </a:prstGeom>
          <a:noFill/>
          <a:ln w="0">
            <a:noFill/>
          </a:ln>
        </p:spPr>
        <p:txBody>
          <a:bodyPr lIns="18000" tIns="10800" rIns="18000" bIns="10800" anchor="t">
            <a:normAutofit/>
          </a:bodyPr>
          <a:lstStyle/>
          <a:p>
            <a:pPr algn="ctr">
              <a:buNone/>
            </a:pPr>
            <a:r>
              <a:rPr lang="en-US" sz="1700" b="1" strike="noStrike" spc="-1" dirty="0">
                <a:solidFill>
                  <a:srgbClr val="1C1C1C"/>
                </a:solidFill>
                <a:latin typeface="Times New Roman"/>
                <a:ea typeface="Times New Roman"/>
                <a:cs typeface="Times New Roman"/>
              </a:rPr>
              <a:t>Bengali Question Answering with Retrieval + Few-Shot Prompting</a:t>
            </a:r>
            <a:r>
              <a:rPr lang="en-US" sz="1500" b="1" i="1" strike="noStrike" spc="-1" dirty="0">
                <a:solidFill>
                  <a:srgbClr val="7A5C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algn="ctr">
              <a:spcBef>
                <a:spcPts val="900"/>
              </a:spcBef>
              <a:buNone/>
            </a:pPr>
            <a:r>
              <a:rPr lang="en-US" sz="13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Shuva Dey   ·   </a:t>
            </a:r>
            <a:r>
              <a:rPr lang="en-US" sz="1300" b="0" strike="noStrike" spc="-1" dirty="0" err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Priyangshu</a:t>
            </a:r>
            <a:r>
              <a:rPr lang="en-US" sz="13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Barua</a:t>
            </a:r>
            <a:r>
              <a:rPr lang="en-US" sz="1300" b="1" strike="noStrike" spc="-1" dirty="0">
                <a:solidFill>
                  <a:srgbClr val="C09C00"/>
                </a:solidFill>
                <a:latin typeface="Times New Roman"/>
                <a:ea typeface="Times New Roman"/>
                <a:cs typeface="Times New Roman"/>
              </a:rPr>
              <a:t>      |      CUET      |      </a:t>
            </a:r>
            <a:r>
              <a:rPr lang="en-US" sz="13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“Are You Sure LLM Is Enough?” Contest</a:t>
            </a:r>
          </a:p>
        </p:txBody>
      </p:sp>
      <p:sp>
        <p:nvSpPr>
          <p:cNvPr id="25" name="Slide Number Placeholder 4"/>
          <p:cNvSpPr/>
          <p:nvPr/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fld id="{977C0A7F-31DC-4E96-BBC2-D6B5A9709F95}" type="slidenum">
              <a:rPr lang="en-US" sz="1800" b="0" strike="noStrike" spc="-1">
                <a:solidFill>
                  <a:srgbClr val="000000"/>
                </a:solidFill>
                <a:latin typeface="Arial Narrow"/>
              </a:rPr>
              <a:t>1</a:t>
            </a:fld>
            <a:endParaRPr lang="en-US" sz="1800" b="0" strike="noStrike" spc="-1">
              <a:solidFill>
                <a:srgbClr val="000000"/>
              </a:solidFill>
              <a:latin typeface="Arial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>
            <a:extLst>
              <a:ext uri="{FF2B5EF4-FFF2-40B4-BE49-F238E27FC236}">
                <a16:creationId xmlns:a16="http://schemas.microsoft.com/office/drawing/2014/main" id="{76A6AD18-475D-8B7F-C42E-046F139CF4DA}"/>
              </a:ext>
            </a:extLst>
          </p:cNvPr>
          <p:cNvSpPr/>
          <p:nvPr/>
        </p:nvSpPr>
        <p:spPr>
          <a:xfrm>
            <a:off x="548640" y="1645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Problem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0D3748C6-E759-79C9-6A24-52764440507D}"/>
              </a:ext>
            </a:extLst>
          </p:cNvPr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 short Bengali facts from 6,720 Wikipedia articles.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D01FA25D-0C0E-A14F-5861-22CF0159D65E}"/>
              </a:ext>
            </a:extLst>
          </p:cNvPr>
          <p:cNvSpPr/>
          <p:nvPr/>
        </p:nvSpPr>
        <p:spPr>
          <a:xfrm>
            <a:off x="548640" y="1691640"/>
            <a:ext cx="5120640" cy="914400"/>
          </a:xfrm>
          <a:prstGeom prst="roundRect">
            <a:avLst>
              <a:gd name="adj" fmla="val 7000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C5C1F57F-D047-665F-159D-E18E50C91727}"/>
              </a:ext>
            </a:extLst>
          </p:cNvPr>
          <p:cNvSpPr/>
          <p:nvPr/>
        </p:nvSpPr>
        <p:spPr>
          <a:xfrm>
            <a:off x="749808" y="1938528"/>
            <a:ext cx="420624" cy="420624"/>
          </a:xfrm>
          <a:prstGeom prst="ellipse">
            <a:avLst/>
          </a:prstGeom>
          <a:solidFill>
            <a:srgbClr val="E2574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475D4B7-F161-CE79-48FF-4AA3D0DDB8AA}"/>
              </a:ext>
            </a:extLst>
          </p:cNvPr>
          <p:cNvSpPr/>
          <p:nvPr/>
        </p:nvSpPr>
        <p:spPr>
          <a:xfrm>
            <a:off x="1325880" y="1801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LLMs know little Bengali Wikipedia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FC857F1B-4FA7-0AD7-E5FA-8202392E9524}"/>
              </a:ext>
            </a:extLst>
          </p:cNvPr>
          <p:cNvSpPr/>
          <p:nvPr/>
        </p:nvSpPr>
        <p:spPr>
          <a:xfrm>
            <a:off x="1325880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Sparse pre-training coverage — the model can't just "recall" facts.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0A3669D7-FF91-5569-6A02-F15108BA1483}"/>
              </a:ext>
            </a:extLst>
          </p:cNvPr>
          <p:cNvSpPr/>
          <p:nvPr/>
        </p:nvSpPr>
        <p:spPr>
          <a:xfrm>
            <a:off x="548640" y="2770632"/>
            <a:ext cx="5120640" cy="914400"/>
          </a:xfrm>
          <a:prstGeom prst="roundRect">
            <a:avLst>
              <a:gd name="adj" fmla="val 7000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346AD300-B548-5B14-E9FA-D4286846C98A}"/>
              </a:ext>
            </a:extLst>
          </p:cNvPr>
          <p:cNvSpPr/>
          <p:nvPr/>
        </p:nvSpPr>
        <p:spPr>
          <a:xfrm>
            <a:off x="749808" y="3017520"/>
            <a:ext cx="420624" cy="420624"/>
          </a:xfrm>
          <a:prstGeom prst="ellipse">
            <a:avLst/>
          </a:prstGeom>
          <a:solidFill>
            <a:srgbClr val="E2574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CC8219AE-A100-42C7-4E99-62D132B6C41E}"/>
              </a:ext>
            </a:extLst>
          </p:cNvPr>
          <p:cNvSpPr/>
          <p:nvPr/>
        </p:nvSpPr>
        <p:spPr>
          <a:xfrm>
            <a:off x="1325880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 must be tiny &amp; exact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B70F33CC-D96C-B3D4-C0F4-4F3837BCFDF9}"/>
              </a:ext>
            </a:extLst>
          </p:cNvPr>
          <p:cNvSpPr/>
          <p:nvPr/>
        </p:nvSpPr>
        <p:spPr>
          <a:xfrm>
            <a:off x="132588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Median gold answer: 2 tokens. No room for fluent rambling.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2562FF0C-A73B-B7DB-9D8F-0483EAD21456}"/>
              </a:ext>
            </a:extLst>
          </p:cNvPr>
          <p:cNvSpPr/>
          <p:nvPr/>
        </p:nvSpPr>
        <p:spPr>
          <a:xfrm>
            <a:off x="548640" y="3849624"/>
            <a:ext cx="5120640" cy="914400"/>
          </a:xfrm>
          <a:prstGeom prst="roundRect">
            <a:avLst>
              <a:gd name="adj" fmla="val 7000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EC266487-81CA-5EA8-D83D-91FB295AFFC8}"/>
              </a:ext>
            </a:extLst>
          </p:cNvPr>
          <p:cNvSpPr/>
          <p:nvPr/>
        </p:nvSpPr>
        <p:spPr>
          <a:xfrm>
            <a:off x="749808" y="4096512"/>
            <a:ext cx="420624" cy="420624"/>
          </a:xfrm>
          <a:prstGeom prst="ellipse">
            <a:avLst/>
          </a:prstGeom>
          <a:solidFill>
            <a:srgbClr val="E2574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FBBA62A4-8BD7-0DE0-530A-EB9B8C518513}"/>
              </a:ext>
            </a:extLst>
          </p:cNvPr>
          <p:cNvSpPr/>
          <p:nvPr/>
        </p:nvSpPr>
        <p:spPr>
          <a:xfrm>
            <a:off x="1325880" y="3959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Strict output format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390A360C-25F3-9751-3ACF-EA960EC17C5E}"/>
              </a:ext>
            </a:extLst>
          </p:cNvPr>
          <p:cNvSpPr/>
          <p:nvPr/>
        </p:nvSpPr>
        <p:spPr>
          <a:xfrm>
            <a:off x="132588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answer must end with the Bengali daari (।).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61548A8F-B35D-FD8C-C534-94DEFFB0A7CC}"/>
              </a:ext>
            </a:extLst>
          </p:cNvPr>
          <p:cNvSpPr/>
          <p:nvPr/>
        </p:nvSpPr>
        <p:spPr>
          <a:xfrm>
            <a:off x="5989320" y="1691640"/>
            <a:ext cx="2651760" cy="3054096"/>
          </a:xfrm>
          <a:prstGeom prst="roundRect">
            <a:avLst>
              <a:gd name="adj" fmla="val 3103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2EB62B29-C8AF-FAA8-6BE0-4119A9B7A210}"/>
              </a:ext>
            </a:extLst>
          </p:cNvPr>
          <p:cNvSpPr/>
          <p:nvPr/>
        </p:nvSpPr>
        <p:spPr>
          <a:xfrm>
            <a:off x="62636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A3A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TASK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C017820E-BB72-7C0F-FDCC-120DF27ADB7D}"/>
              </a:ext>
            </a:extLst>
          </p:cNvPr>
          <p:cNvSpPr/>
          <p:nvPr/>
        </p:nvSpPr>
        <p:spPr>
          <a:xfrm>
            <a:off x="62636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6,720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F1E06ADA-0ED4-9429-7355-B7228125A69C}"/>
              </a:ext>
            </a:extLst>
          </p:cNvPr>
          <p:cNvSpPr/>
          <p:nvPr/>
        </p:nvSpPr>
        <p:spPr>
          <a:xfrm>
            <a:off x="62636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Wikipedia articles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D28D647E-87C5-4C01-6D1D-98F280033BD7}"/>
              </a:ext>
            </a:extLst>
          </p:cNvPr>
          <p:cNvSpPr/>
          <p:nvPr/>
        </p:nvSpPr>
        <p:spPr>
          <a:xfrm>
            <a:off x="6263640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1,500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2AD4DCD-4338-57A7-A574-227327515392}"/>
              </a:ext>
            </a:extLst>
          </p:cNvPr>
          <p:cNvSpPr/>
          <p:nvPr/>
        </p:nvSpPr>
        <p:spPr>
          <a:xfrm>
            <a:off x="626364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questions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9E33C1B-4EE6-389A-800E-AC186062A244}"/>
              </a:ext>
            </a:extLst>
          </p:cNvPr>
          <p:cNvSpPr/>
          <p:nvPr/>
        </p:nvSpPr>
        <p:spPr>
          <a:xfrm>
            <a:off x="6263640" y="38770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 tokens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AC3D7417-77B6-FAAE-A4E2-B510B73E9C7E}"/>
              </a:ext>
            </a:extLst>
          </p:cNvPr>
          <p:cNvSpPr/>
          <p:nvPr/>
        </p:nvSpPr>
        <p:spPr>
          <a:xfrm>
            <a:off x="6263640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median answer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>
            <a:extLst>
              <a:ext uri="{FF2B5EF4-FFF2-40B4-BE49-F238E27FC236}">
                <a16:creationId xmlns:a16="http://schemas.microsoft.com/office/drawing/2014/main" id="{3FACB254-6C11-79F0-425D-79A9E0F59F9F}"/>
              </a:ext>
            </a:extLst>
          </p:cNvPr>
          <p:cNvSpPr/>
          <p:nvPr/>
        </p:nvSpPr>
        <p:spPr>
          <a:xfrm>
            <a:off x="448056" y="914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How It Works — 4 Phases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838DE3B-EF1E-2195-3928-1A62DF837A7C}"/>
              </a:ext>
            </a:extLst>
          </p:cNvPr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Everything at inference time. Zero training.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36DC76CE-1A95-08F0-A089-8ACB32B50423}"/>
              </a:ext>
            </a:extLst>
          </p:cNvPr>
          <p:cNvSpPr/>
          <p:nvPr/>
        </p:nvSpPr>
        <p:spPr>
          <a:xfrm>
            <a:off x="1207008" y="2057400"/>
            <a:ext cx="603504" cy="60350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D099BA28-0F2D-9680-6834-467841BF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212848"/>
            <a:ext cx="292608" cy="292608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6E07AE00-4321-04B1-C65E-335D574B2F74}"/>
              </a:ext>
            </a:extLst>
          </p:cNvPr>
          <p:cNvSpPr/>
          <p:nvPr/>
        </p:nvSpPr>
        <p:spPr>
          <a:xfrm>
            <a:off x="658368" y="278892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Index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BB6A27E0-E417-540D-B51F-8BB3EB40B013}"/>
              </a:ext>
            </a:extLst>
          </p:cNvPr>
          <p:cNvSpPr/>
          <p:nvPr/>
        </p:nvSpPr>
        <p:spPr>
          <a:xfrm>
            <a:off x="694944" y="315468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Split articles into 55,841 chunks. Build dense (BGE-M3) + sparse (BM25) indexes.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0CB16AEE-746E-70DC-7A25-5870D62D0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999232"/>
            <a:ext cx="201168" cy="201168"/>
          </a:xfrm>
          <a:prstGeom prst="rect">
            <a:avLst/>
          </a:prstGeom>
        </p:spPr>
      </p:pic>
      <p:sp>
        <p:nvSpPr>
          <p:cNvPr id="39" name="Shape 7">
            <a:extLst>
              <a:ext uri="{FF2B5EF4-FFF2-40B4-BE49-F238E27FC236}">
                <a16:creationId xmlns:a16="http://schemas.microsoft.com/office/drawing/2014/main" id="{5FBDF3CC-DAFC-9B67-AD34-78D5B96216F6}"/>
              </a:ext>
            </a:extLst>
          </p:cNvPr>
          <p:cNvSpPr/>
          <p:nvPr/>
        </p:nvSpPr>
        <p:spPr>
          <a:xfrm>
            <a:off x="3355848" y="2057400"/>
            <a:ext cx="603504" cy="603504"/>
          </a:xfrm>
          <a:prstGeom prst="ellipse">
            <a:avLst/>
          </a:prstGeom>
          <a:solidFill>
            <a:srgbClr val="1FA3A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9A07BC51-B808-9687-1F86-AA291FF86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2212848"/>
            <a:ext cx="292608" cy="292608"/>
          </a:xfrm>
          <a:prstGeom prst="rect">
            <a:avLst/>
          </a:prstGeom>
        </p:spPr>
      </p:pic>
      <p:sp>
        <p:nvSpPr>
          <p:cNvPr id="41" name="Text 8">
            <a:extLst>
              <a:ext uri="{FF2B5EF4-FFF2-40B4-BE49-F238E27FC236}">
                <a16:creationId xmlns:a16="http://schemas.microsoft.com/office/drawing/2014/main" id="{BC294174-AA78-B13C-329C-07BDA8315E32}"/>
              </a:ext>
            </a:extLst>
          </p:cNvPr>
          <p:cNvSpPr/>
          <p:nvPr/>
        </p:nvSpPr>
        <p:spPr>
          <a:xfrm>
            <a:off x="2807208" y="278892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Retrieve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7616F0AA-9CAD-7952-CAF0-E733120A1724}"/>
              </a:ext>
            </a:extLst>
          </p:cNvPr>
          <p:cNvSpPr/>
          <p:nvPr/>
        </p:nvSpPr>
        <p:spPr>
          <a:xfrm>
            <a:off x="2852928" y="2980944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 top-20 from each index. Fuse with RRF. Keep the best chunks.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1E83083D-9157-F4E9-63CD-0D6B35BFC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999232"/>
            <a:ext cx="201168" cy="201168"/>
          </a:xfrm>
          <a:prstGeom prst="rect">
            <a:avLst/>
          </a:prstGeom>
        </p:spPr>
      </p:pic>
      <p:sp>
        <p:nvSpPr>
          <p:cNvPr id="45" name="Shape 11">
            <a:extLst>
              <a:ext uri="{FF2B5EF4-FFF2-40B4-BE49-F238E27FC236}">
                <a16:creationId xmlns:a16="http://schemas.microsoft.com/office/drawing/2014/main" id="{F98CE101-4C3A-93DA-DBC4-E1D8AD7D1862}"/>
              </a:ext>
            </a:extLst>
          </p:cNvPr>
          <p:cNvSpPr/>
          <p:nvPr/>
        </p:nvSpPr>
        <p:spPr>
          <a:xfrm>
            <a:off x="5504688" y="2057400"/>
            <a:ext cx="603504" cy="60350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1ACE90F5-0463-E16B-2D88-DC54F06F0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2212848"/>
            <a:ext cx="292608" cy="292608"/>
          </a:xfrm>
          <a:prstGeom prst="rect">
            <a:avLst/>
          </a:prstGeom>
        </p:spPr>
      </p:pic>
      <p:sp>
        <p:nvSpPr>
          <p:cNvPr id="47" name="Text 12">
            <a:extLst>
              <a:ext uri="{FF2B5EF4-FFF2-40B4-BE49-F238E27FC236}">
                <a16:creationId xmlns:a16="http://schemas.microsoft.com/office/drawing/2014/main" id="{CB2AA9E9-66DD-7B64-46F1-7DD11BA46F4B}"/>
              </a:ext>
            </a:extLst>
          </p:cNvPr>
          <p:cNvSpPr/>
          <p:nvPr/>
        </p:nvSpPr>
        <p:spPr>
          <a:xfrm>
            <a:off x="4956048" y="278892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Generate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28E90657-02CB-5C2B-5A8D-EE8991993986}"/>
              </a:ext>
            </a:extLst>
          </p:cNvPr>
          <p:cNvSpPr/>
          <p:nvPr/>
        </p:nvSpPr>
        <p:spPr>
          <a:xfrm>
            <a:off x="5102352" y="306324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Gemma-2-9B in 4-bit. 5 example Q→A pairs teach the short answer style.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A17D2384-3167-5EB2-1441-388764CAB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999232"/>
            <a:ext cx="201168" cy="201168"/>
          </a:xfrm>
          <a:prstGeom prst="rect">
            <a:avLst/>
          </a:prstGeom>
        </p:spPr>
      </p:pic>
      <p:sp>
        <p:nvSpPr>
          <p:cNvPr id="51" name="Shape 15">
            <a:extLst>
              <a:ext uri="{FF2B5EF4-FFF2-40B4-BE49-F238E27FC236}">
                <a16:creationId xmlns:a16="http://schemas.microsoft.com/office/drawing/2014/main" id="{6BF8A3D4-4365-1D86-FE5E-3B29CC3A58AC}"/>
              </a:ext>
            </a:extLst>
          </p:cNvPr>
          <p:cNvSpPr/>
          <p:nvPr/>
        </p:nvSpPr>
        <p:spPr>
          <a:xfrm>
            <a:off x="7653528" y="2057400"/>
            <a:ext cx="603504" cy="603504"/>
          </a:xfrm>
          <a:prstGeom prst="ellipse">
            <a:avLst/>
          </a:prstGeom>
          <a:solidFill>
            <a:srgbClr val="1FA3A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Image 6" descr="preencoded.png">
            <a:extLst>
              <a:ext uri="{FF2B5EF4-FFF2-40B4-BE49-F238E27FC236}">
                <a16:creationId xmlns:a16="http://schemas.microsoft.com/office/drawing/2014/main" id="{5C984C2F-B8D9-9E7C-30DB-B224CE708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76" y="2212848"/>
            <a:ext cx="292608" cy="292608"/>
          </a:xfrm>
          <a:prstGeom prst="rect">
            <a:avLst/>
          </a:prstGeom>
        </p:spPr>
      </p:pic>
      <p:sp>
        <p:nvSpPr>
          <p:cNvPr id="53" name="Text 16">
            <a:extLst>
              <a:ext uri="{FF2B5EF4-FFF2-40B4-BE49-F238E27FC236}">
                <a16:creationId xmlns:a16="http://schemas.microsoft.com/office/drawing/2014/main" id="{26A907DD-9B31-138A-496C-26CD98B89FA5}"/>
              </a:ext>
            </a:extLst>
          </p:cNvPr>
          <p:cNvSpPr/>
          <p:nvPr/>
        </p:nvSpPr>
        <p:spPr>
          <a:xfrm>
            <a:off x="7104888" y="278892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Refine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32A4C8AD-2778-5855-7384-F67D52D911FF}"/>
              </a:ext>
            </a:extLst>
          </p:cNvPr>
          <p:cNvSpPr/>
          <p:nvPr/>
        </p:nvSpPr>
        <p:spPr>
          <a:xfrm>
            <a:off x="7202563" y="306324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"Unknown" answers? Re-ask the LLM, then fall back to span extraction.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>
            <a:extLst>
              <a:ext uri="{FF2B5EF4-FFF2-40B4-BE49-F238E27FC236}">
                <a16:creationId xmlns:a16="http://schemas.microsoft.com/office/drawing/2014/main" id="{A936B3AF-E4D5-A6BC-C052-81C387CC1E7C}"/>
              </a:ext>
            </a:extLst>
          </p:cNvPr>
          <p:cNvSpPr/>
          <p:nvPr/>
        </p:nvSpPr>
        <p:spPr>
          <a:xfrm>
            <a:off x="490451" y="91441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Hybrid Retrieval</a:t>
            </a:r>
            <a:endParaRPr lang="en-US" sz="38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4C224C2E-686C-8E2B-C068-57970D99F31F}"/>
              </a:ext>
            </a:extLst>
          </p:cNvPr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search engines are better than 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2B3E2D31-0F46-FA1D-F304-C0499EBA97B4}"/>
              </a:ext>
            </a:extLst>
          </p:cNvPr>
          <p:cNvSpPr/>
          <p:nvPr/>
        </p:nvSpPr>
        <p:spPr>
          <a:xfrm>
            <a:off x="548640" y="1783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46C7F"/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0A2803C6-11E3-4292-7AD0-BBB046A54907}"/>
              </a:ext>
            </a:extLst>
          </p:cNvPr>
          <p:cNvSpPr/>
          <p:nvPr/>
        </p:nvSpPr>
        <p:spPr>
          <a:xfrm>
            <a:off x="731520" y="1938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Dense — BGE-M3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A5C16EAA-6AB7-EF57-2867-9E4CF003FFAB}"/>
              </a:ext>
            </a:extLst>
          </p:cNvPr>
          <p:cNvSpPr/>
          <p:nvPr/>
        </p:nvSpPr>
        <p:spPr>
          <a:xfrm>
            <a:off x="73152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0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Understands meaning.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7F0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 when words differ.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050E690F-3A4C-756E-8CCE-D4E9812537F2}"/>
              </a:ext>
            </a:extLst>
          </p:cNvPr>
          <p:cNvSpPr/>
          <p:nvPr/>
        </p:nvSpPr>
        <p:spPr>
          <a:xfrm>
            <a:off x="3154680" y="1783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46C7F"/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29F3E3EF-D284-37AF-9CCC-6A205655D9B3}"/>
              </a:ext>
            </a:extLst>
          </p:cNvPr>
          <p:cNvSpPr/>
          <p:nvPr/>
        </p:nvSpPr>
        <p:spPr>
          <a:xfrm>
            <a:off x="3337560" y="1938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Sparse — BM25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3CA3052E-F0D5-6969-F283-7504A1480983}"/>
              </a:ext>
            </a:extLst>
          </p:cNvPr>
          <p:cNvSpPr/>
          <p:nvPr/>
        </p:nvSpPr>
        <p:spPr>
          <a:xfrm>
            <a:off x="333756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0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Matches exact words.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7F0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 for rare names.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4EE52427-CA9A-4EF1-6F78-514C305E5638}"/>
              </a:ext>
            </a:extLst>
          </p:cNvPr>
          <p:cNvSpPr/>
          <p:nvPr/>
        </p:nvSpPr>
        <p:spPr>
          <a:xfrm>
            <a:off x="6126480" y="1783080"/>
            <a:ext cx="1371600" cy="1371600"/>
          </a:xfrm>
          <a:prstGeom prst="ellipse">
            <a:avLst/>
          </a:prstGeom>
          <a:solidFill>
            <a:srgbClr val="F2A33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E79BBB09-4E95-5833-7F1A-C33C8E54B608}"/>
              </a:ext>
            </a:extLst>
          </p:cNvPr>
          <p:cNvSpPr/>
          <p:nvPr/>
        </p:nvSpPr>
        <p:spPr>
          <a:xfrm>
            <a:off x="61264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RRF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154FB348-0F25-56F5-7977-553BC1CCB7A1}"/>
              </a:ext>
            </a:extLst>
          </p:cNvPr>
          <p:cNvSpPr/>
          <p:nvPr/>
        </p:nvSpPr>
        <p:spPr>
          <a:xfrm>
            <a:off x="2926080" y="2468880"/>
            <a:ext cx="228600" cy="0"/>
          </a:xfrm>
          <a:prstGeom prst="line">
            <a:avLst/>
          </a:prstGeom>
          <a:noFill/>
          <a:ln w="25400">
            <a:solidFill>
              <a:srgbClr val="9FC3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2563C1FC-9F61-7B65-CCB1-B0B1E4D363A5}"/>
              </a:ext>
            </a:extLst>
          </p:cNvPr>
          <p:cNvSpPr/>
          <p:nvPr/>
        </p:nvSpPr>
        <p:spPr>
          <a:xfrm>
            <a:off x="5532120" y="2468880"/>
            <a:ext cx="594360" cy="0"/>
          </a:xfrm>
          <a:prstGeom prst="line">
            <a:avLst/>
          </a:prstGeom>
          <a:noFill/>
          <a:ln w="25400">
            <a:solidFill>
              <a:srgbClr val="9FC3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5EF327A0-FF2C-ADD6-494A-A004E7EA5DC9}"/>
              </a:ext>
            </a:extLst>
          </p:cNvPr>
          <p:cNvSpPr/>
          <p:nvPr/>
        </p:nvSpPr>
        <p:spPr>
          <a:xfrm>
            <a:off x="96012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list contributes 1/(rank+1) — simple, no 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Image 1" descr="preencoded.png">
            <a:extLst>
              <a:ext uri="{FF2B5EF4-FFF2-40B4-BE49-F238E27FC236}">
                <a16:creationId xmlns:a16="http://schemas.microsoft.com/office/drawing/2014/main" id="{E9C5DC32-DDC2-81DD-CBD1-A307F244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014216"/>
            <a:ext cx="237744" cy="237744"/>
          </a:xfrm>
          <a:prstGeom prst="rect">
            <a:avLst/>
          </a:prstGeom>
        </p:spPr>
      </p:pic>
      <p:sp>
        <p:nvSpPr>
          <p:cNvPr id="53" name="Text 13">
            <a:extLst>
              <a:ext uri="{FF2B5EF4-FFF2-40B4-BE49-F238E27FC236}">
                <a16:creationId xmlns:a16="http://schemas.microsoft.com/office/drawing/2014/main" id="{AA1E4E32-1209-C289-B97F-670D00BFD9C7}"/>
              </a:ext>
            </a:extLst>
          </p:cNvPr>
          <p:cNvSpPr/>
          <p:nvPr/>
        </p:nvSpPr>
        <p:spPr>
          <a:xfrm>
            <a:off x="960120" y="3950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4 chunks → context, capped at 1,800 characters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Image 2" descr="preencoded.png">
            <a:extLst>
              <a:ext uri="{FF2B5EF4-FFF2-40B4-BE49-F238E27FC236}">
                <a16:creationId xmlns:a16="http://schemas.microsoft.com/office/drawing/2014/main" id="{B8971080-4D60-ABB2-7407-9FE62A13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471416"/>
            <a:ext cx="237744" cy="237744"/>
          </a:xfrm>
          <a:prstGeom prst="rect">
            <a:avLst/>
          </a:prstGeom>
        </p:spPr>
      </p:pic>
      <p:sp>
        <p:nvSpPr>
          <p:cNvPr id="55" name="Text 14">
            <a:extLst>
              <a:ext uri="{FF2B5EF4-FFF2-40B4-BE49-F238E27FC236}">
                <a16:creationId xmlns:a16="http://schemas.microsoft.com/office/drawing/2014/main" id="{94FDF8E8-45C0-0EB8-FEA5-DFF5255A6F96}"/>
              </a:ext>
            </a:extLst>
          </p:cNvPr>
          <p:cNvSpPr/>
          <p:nvPr/>
        </p:nvSpPr>
        <p:spPr>
          <a:xfrm>
            <a:off x="9601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Gold answer found in context 75.3% of the time (the "ceiling")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2D6B7EE9-BFED-F62E-7535-5768D9789000}"/>
              </a:ext>
            </a:extLst>
          </p:cNvPr>
          <p:cNvSpPr/>
          <p:nvPr/>
        </p:nvSpPr>
        <p:spPr>
          <a:xfrm>
            <a:off x="594360" y="4531683"/>
            <a:ext cx="237744" cy="23774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FC3CED01-7E6E-4C86-5D28-2422D9AA13FC}"/>
              </a:ext>
            </a:extLst>
          </p:cNvPr>
          <p:cNvSpPr/>
          <p:nvPr/>
        </p:nvSpPr>
        <p:spPr>
          <a:xfrm>
            <a:off x="600595" y="4058066"/>
            <a:ext cx="237744" cy="23774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6ECCA04B-F604-50B7-876A-B26C8D4EEB94}"/>
              </a:ext>
            </a:extLst>
          </p:cNvPr>
          <p:cNvSpPr/>
          <p:nvPr/>
        </p:nvSpPr>
        <p:spPr>
          <a:xfrm>
            <a:off x="594360" y="3606997"/>
            <a:ext cx="237744" cy="23774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25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71DAA-F03B-8C0B-3181-92C92F5F7C98}"/>
              </a:ext>
            </a:extLst>
          </p:cNvPr>
          <p:cNvSpPr txBox="1"/>
          <p:nvPr/>
        </p:nvSpPr>
        <p:spPr>
          <a:xfrm>
            <a:off x="3053208" y="5964035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- 01 : Methodology figure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EE936-FE9A-6A04-B7AD-A795E8110BAF}"/>
              </a:ext>
            </a:extLst>
          </p:cNvPr>
          <p:cNvSpPr txBox="1"/>
          <p:nvPr/>
        </p:nvSpPr>
        <p:spPr>
          <a:xfrm>
            <a:off x="3178725" y="102792"/>
            <a:ext cx="392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B3C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D8959-5D21-8EC1-C147-A41BA32A6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63" y="1078790"/>
            <a:ext cx="7919885" cy="470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4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CCC2497A-5C70-D903-65BA-10DAC751DC57}"/>
              </a:ext>
            </a:extLst>
          </p:cNvPr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Small Footprint, Big Model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3A0FA035-2BBF-258A-6009-43FFB5855EF1}"/>
              </a:ext>
            </a:extLst>
          </p:cNvPr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9-billion-parameter model on a free 15 GB Kaggle T4.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10264E68-D59D-2D59-0C42-04A38A229FA8}"/>
              </a:ext>
            </a:extLst>
          </p:cNvPr>
          <p:cNvSpPr/>
          <p:nvPr/>
        </p:nvSpPr>
        <p:spPr>
          <a:xfrm>
            <a:off x="548640" y="17830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A8FDF10E-B303-C077-07CE-D19E28BEFF6E}"/>
              </a:ext>
            </a:extLst>
          </p:cNvPr>
          <p:cNvSpPr/>
          <p:nvPr/>
        </p:nvSpPr>
        <p:spPr>
          <a:xfrm>
            <a:off x="749808" y="2148840"/>
            <a:ext cx="502920" cy="502920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FC8D5C00-EDDF-A1D2-CC1D-DFB2A51E46CB}"/>
              </a:ext>
            </a:extLst>
          </p:cNvPr>
          <p:cNvSpPr/>
          <p:nvPr/>
        </p:nvSpPr>
        <p:spPr>
          <a:xfrm>
            <a:off x="1417320" y="1947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4-bit NF4 quantization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F1817E25-7886-4C8C-73CA-6E84D48652F2}"/>
              </a:ext>
            </a:extLst>
          </p:cNvPr>
          <p:cNvSpPr/>
          <p:nvPr/>
        </p:nvSpPr>
        <p:spPr>
          <a:xfrm>
            <a:off x="1417320" y="2286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Weights shrink ~4× → model fits in just 5–6 GB VRAM.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A6110579-A60A-6BC8-E0C3-A8641FDDBA44}"/>
              </a:ext>
            </a:extLst>
          </p:cNvPr>
          <p:cNvSpPr/>
          <p:nvPr/>
        </p:nvSpPr>
        <p:spPr>
          <a:xfrm>
            <a:off x="4709160" y="17830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36A1BEB7-A3DD-1527-20CA-891F8ED8D8CE}"/>
              </a:ext>
            </a:extLst>
          </p:cNvPr>
          <p:cNvSpPr/>
          <p:nvPr/>
        </p:nvSpPr>
        <p:spPr>
          <a:xfrm>
            <a:off x="4910328" y="2148840"/>
            <a:ext cx="502920" cy="502920"/>
          </a:xfrm>
          <a:prstGeom prst="ellipse">
            <a:avLst/>
          </a:prstGeom>
          <a:solidFill>
            <a:srgbClr val="1FA3A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4C6365A2-2B5A-DCC0-21D6-70BF3804E759}"/>
              </a:ext>
            </a:extLst>
          </p:cNvPr>
          <p:cNvSpPr/>
          <p:nvPr/>
        </p:nvSpPr>
        <p:spPr>
          <a:xfrm>
            <a:off x="5577840" y="1947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few-shot examples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585020CA-411E-F3FA-AF86-63B744F5140F}"/>
              </a:ext>
            </a:extLst>
          </p:cNvPr>
          <p:cNvSpPr/>
          <p:nvPr/>
        </p:nvSpPr>
        <p:spPr>
          <a:xfrm>
            <a:off x="5577840" y="2286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Q→A pairs teach the style: 1–5 words, end with daari.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FE827E8D-AE8B-78C9-4BB7-5D383A977AE8}"/>
              </a:ext>
            </a:extLst>
          </p:cNvPr>
          <p:cNvSpPr/>
          <p:nvPr/>
        </p:nvSpPr>
        <p:spPr>
          <a:xfrm>
            <a:off x="548640" y="32004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A06415A0-62D4-AA64-BCF3-14982E51978E}"/>
              </a:ext>
            </a:extLst>
          </p:cNvPr>
          <p:cNvSpPr/>
          <p:nvPr/>
        </p:nvSpPr>
        <p:spPr>
          <a:xfrm>
            <a:off x="749808" y="3566160"/>
            <a:ext cx="502920" cy="502920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E06F2146-8C3F-88E1-1E36-BD135A639910}"/>
              </a:ext>
            </a:extLst>
          </p:cNvPr>
          <p:cNvSpPr/>
          <p:nvPr/>
        </p:nvSpPr>
        <p:spPr>
          <a:xfrm>
            <a:off x="1417320" y="33649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Greedy decoding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8D17B9A0-639B-376A-C2E6-C905DF72BFD1}"/>
              </a:ext>
            </a:extLst>
          </p:cNvPr>
          <p:cNvSpPr/>
          <p:nvPr/>
        </p:nvSpPr>
        <p:spPr>
          <a:xfrm>
            <a:off x="141732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Deterministic, fast, batches of 8. Short facts need no beam search.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23FBDBB3-DF8A-8B3D-29D1-A5354DEAFD12}"/>
              </a:ext>
            </a:extLst>
          </p:cNvPr>
          <p:cNvSpPr/>
          <p:nvPr/>
        </p:nvSpPr>
        <p:spPr>
          <a:xfrm>
            <a:off x="4709160" y="32004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2D3F952-32AF-840C-AB6B-51A67856BAAB}"/>
              </a:ext>
            </a:extLst>
          </p:cNvPr>
          <p:cNvSpPr/>
          <p:nvPr/>
        </p:nvSpPr>
        <p:spPr>
          <a:xfrm>
            <a:off x="4910328" y="3566160"/>
            <a:ext cx="502920" cy="502920"/>
          </a:xfrm>
          <a:prstGeom prst="ellipse">
            <a:avLst/>
          </a:prstGeom>
          <a:solidFill>
            <a:srgbClr val="1FA3A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3C200D8E-B863-6CD2-F922-78C9F6F77B37}"/>
              </a:ext>
            </a:extLst>
          </p:cNvPr>
          <p:cNvSpPr/>
          <p:nvPr/>
        </p:nvSpPr>
        <p:spPr>
          <a:xfrm>
            <a:off x="5577840" y="33649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Sequential memory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4F605202-AB48-F81C-5D6E-C45F6470C44E}"/>
              </a:ext>
            </a:extLst>
          </p:cNvPr>
          <p:cNvSpPr/>
          <p:nvPr/>
        </p:nvSpPr>
        <p:spPr>
          <a:xfrm>
            <a:off x="557784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Retrieval finishes &amp; frees the GPU before the LLM loads.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40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 lIns="525600" tIns="10800" rIns="91440" bIns="10800" anchor="ctr">
            <a:noAutofit/>
          </a:bodyPr>
          <a:lstStyle/>
          <a:p>
            <a:pPr indent="0" algn="l">
              <a:buNone/>
            </a:pPr>
            <a:r>
              <a:rPr lang="en-US" sz="3800" b="1" strike="noStrike" spc="-1" dirty="0">
                <a:solidFill>
                  <a:srgbClr val="0B3C49"/>
                </a:solidFill>
                <a:latin typeface="Times New Roman"/>
                <a:ea typeface="Times New Roman"/>
                <a:cs typeface="Times New Roman"/>
              </a:rPr>
              <a:t>The 5 Few-Shot Examples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09120" y="1000000"/>
            <a:ext cx="8230000" cy="820000"/>
          </a:xfrm>
          <a:prstGeom prst="rect">
            <a:avLst/>
          </a:prstGeom>
          <a:noFill/>
          <a:ln w="0">
            <a:noFill/>
          </a:ln>
        </p:spPr>
        <p:txBody>
          <a:bodyPr lIns="18000" tIns="10800" rIns="18000" bIns="108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0" i="1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Curated Bengali Q→A exemplars sent in every prompt — each teaches: 1–5 words, end with </a:t>
            </a:r>
            <a:r>
              <a:rPr lang="en-US" sz="1600" b="0" i="1" strike="noStrike" spc="-1" dirty="0" err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daari</a:t>
            </a:r>
            <a:r>
              <a:rPr lang="en-US" sz="1600" b="0" i="1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(।).</a:t>
            </a:r>
          </a:p>
        </p:txBody>
      </p:sp>
      <p:graphicFrame>
        <p:nvGraphicFramePr>
          <p:cNvPr id="7" name="FewShotTable"/>
          <p:cNvGraphicFramePr/>
          <p:nvPr>
            <p:extLst>
              <p:ext uri="{D42A27DB-BD31-4B8C-83A1-F6EECF244321}">
                <p14:modId xmlns:p14="http://schemas.microsoft.com/office/powerpoint/2010/main" val="3795232640"/>
              </p:ext>
            </p:extLst>
          </p:nvPr>
        </p:nvGraphicFramePr>
        <p:xfrm>
          <a:off x="609120" y="1840000"/>
          <a:ext cx="7925760" cy="323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lang="en-US" sz="1350" b="1" strike="noStrike" spc="-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 (Bengali)</a:t>
                      </a:r>
                    </a:p>
                  </a:txBody>
                  <a:tcPr marL="64000" marR="64000" marT="40000" marB="40000" anchor="ctr"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1" strike="noStrike" spc="-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Answer  (Bengali)</a:t>
                      </a:r>
                    </a:p>
                  </a:txBody>
                  <a:tcPr marL="64000" marR="64000" marT="40000" marB="40000" anchor="ctr"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কালা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পানি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চলচ্চিত্রের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সঙ্গীতায়োজন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করেছেন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কে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?</a:t>
                      </a:r>
                    </a:p>
                  </a:txBody>
                  <a:tcPr marL="64000" marR="64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শচীন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দেববর্মণ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।</a:t>
                      </a:r>
                    </a:p>
                  </a:txBody>
                  <a:tcPr marL="64000" marR="64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মুক্তিযুদ্ধে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অবদানের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জন্য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আবু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সালেককে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কী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সম্মান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দেওয়া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হয়</a:t>
                      </a:r>
                      <a:r>
                        <a:rPr lang="en-US" sz="1300" b="0" strike="noStrike" spc="-1" dirty="0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?</a:t>
                      </a:r>
                    </a:p>
                  </a:txBody>
                  <a:tcPr marL="64000" marR="64000" marT="40000" marB="40000" anchor="ctr"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বীর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প্রতীক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।</a:t>
                      </a:r>
                    </a:p>
                  </a:txBody>
                  <a:tcPr marL="64000" marR="64000" marT="40000" marB="40000" anchor="ctr">
                    <a:solidFill>
                      <a:srgbClr val="F4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300" b="0" strike="noStrike" spc="-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ত্রিপুরার কংগ্রেস-টিইউজেএস জোট সরকার কবে গঠিত হয়?</a:t>
                      </a:r>
                    </a:p>
                  </a:txBody>
                  <a:tcPr marL="64000" marR="64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৫ </a:t>
                      </a:r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ফেব্রুয়ারি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, ১৯৮৮।</a:t>
                      </a:r>
                    </a:p>
                  </a:txBody>
                  <a:tcPr marL="64000" marR="64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300" b="0" strike="noStrike" spc="-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কু ওকানেজোকি নদীটির দৈর্ঘ্য কত?</a:t>
                      </a:r>
                    </a:p>
                  </a:txBody>
                  <a:tcPr marL="64000" marR="64000" marT="40000" marB="40000" anchor="ctr"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৩.৫ </a:t>
                      </a:r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মিটার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।</a:t>
                      </a:r>
                    </a:p>
                  </a:txBody>
                  <a:tcPr marL="64000" marR="64000" marT="40000" marB="40000" anchor="ctr">
                    <a:solidFill>
                      <a:srgbClr val="F4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300" b="0" strike="noStrike" spc="-1">
                          <a:solidFill>
                            <a:srgbClr val="1F1F1F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‘ডন’ শব্দটি কোন ধরনের দ্ব্যর্থতানিরসনের জন্য ব্যবহৃত হয়?</a:t>
                      </a:r>
                    </a:p>
                  </a:txBody>
                  <a:tcPr marL="64000" marR="64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দ্ব্যর্থতা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 </a:t>
                      </a:r>
                      <a:r>
                        <a:rPr lang="en-US" sz="1300" b="1" strike="noStrike" spc="-1" dirty="0" err="1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নিরসন</a:t>
                      </a:r>
                      <a:r>
                        <a:rPr lang="en-US" sz="1300" b="1" strike="noStrike" spc="-1" dirty="0">
                          <a:solidFill>
                            <a:srgbClr val="0B3C49"/>
                          </a:solidFill>
                          <a:latin typeface="Noto Serif Bengali"/>
                          <a:ea typeface="Noto Serif Bengali"/>
                          <a:cs typeface="Noto Serif Bengali"/>
                        </a:rPr>
                        <a:t>।</a:t>
                      </a:r>
                    </a:p>
                  </a:txBody>
                  <a:tcPr marL="64000" marR="64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Body"/>
          <p:cNvSpPr txBox="1"/>
          <p:nvPr/>
        </p:nvSpPr>
        <p:spPr>
          <a:xfrm>
            <a:off x="609120" y="5300000"/>
            <a:ext cx="8230000" cy="600000"/>
          </a:xfrm>
          <a:prstGeom prst="rect">
            <a:avLst/>
          </a:prstGeom>
          <a:noFill/>
          <a:ln w="0">
            <a:noFill/>
          </a:ln>
        </p:spPr>
        <p:txBody>
          <a:bodyPr lIns="18000" tIns="10800" rIns="18000" bIns="10800" anchor="t">
            <a:normAutofit/>
          </a:bodyPr>
          <a:lstStyle/>
          <a:p>
            <a:pPr marL="0" indent="0" algn="l">
              <a:lnSpc>
                <a:spcPct val="104000"/>
              </a:lnSpc>
              <a:spcBef>
                <a:spcPts val="850"/>
              </a:spcBef>
              <a:buNone/>
            </a:pPr>
            <a:r>
              <a:rPr lang="en-US" sz="1450" b="1" strike="noStrike" spc="-1" dirty="0">
                <a:solidFill>
                  <a:srgbClr val="0B3C49"/>
                </a:solidFill>
                <a:latin typeface="Times New Roman"/>
                <a:ea typeface="Times New Roman"/>
                <a:cs typeface="Times New Roman"/>
              </a:rPr>
              <a:t>Types covered:  name · </a:t>
            </a:r>
            <a:r>
              <a:rPr lang="en-US" sz="1450" b="1" strike="noStrike" spc="-1" dirty="0" err="1">
                <a:solidFill>
                  <a:srgbClr val="0B3C49"/>
                </a:solidFill>
                <a:latin typeface="Times New Roman"/>
                <a:ea typeface="Times New Roman"/>
                <a:cs typeface="Times New Roman"/>
              </a:rPr>
              <a:t>honour</a:t>
            </a:r>
            <a:r>
              <a:rPr lang="en-US" sz="1450" b="1" strike="noStrike" spc="-1" dirty="0">
                <a:solidFill>
                  <a:srgbClr val="0B3C49"/>
                </a:solidFill>
                <a:latin typeface="Times New Roman"/>
                <a:ea typeface="Times New Roman"/>
                <a:cs typeface="Times New Roman"/>
              </a:rPr>
              <a:t> · date · numeric · disambiguation.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9959A48E-F3A9-486A-6A4A-39739F611AB1}"/>
              </a:ext>
            </a:extLst>
          </p:cNvPr>
          <p:cNvSpPr/>
          <p:nvPr/>
        </p:nvSpPr>
        <p:spPr>
          <a:xfrm>
            <a:off x="411480" y="1097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8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CCFA2F3-4BA9-256B-0EBD-52DB2D517F1C}"/>
              </a:ext>
            </a:extLst>
          </p:cNvPr>
          <p:cNvSpPr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on Gemma 2-9b beats </a:t>
            </a:r>
            <a:r>
              <a:rPr lang="en-US" sz="1600" dirty="0" err="1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fine-tuning on Gemma 2-2b.</a:t>
            </a:r>
            <a:endParaRPr lang="en-US" sz="160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B9399D4D-FBCA-A03E-C040-3BEDCFA68B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4122085"/>
              </p:ext>
            </p:extLst>
          </p:nvPr>
        </p:nvGraphicFramePr>
        <p:xfrm>
          <a:off x="502920" y="1691640"/>
          <a:ext cx="5212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2">
            <a:extLst>
              <a:ext uri="{FF2B5EF4-FFF2-40B4-BE49-F238E27FC236}">
                <a16:creationId xmlns:a16="http://schemas.microsoft.com/office/drawing/2014/main" id="{CB8FF06A-D23B-828A-B022-E68865A09E10}"/>
              </a:ext>
            </a:extLst>
          </p:cNvPr>
          <p:cNvSpPr/>
          <p:nvPr/>
        </p:nvSpPr>
        <p:spPr>
          <a:xfrm>
            <a:off x="5943600" y="1618488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0B3C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BE305B6-8743-AF48-F648-7A0E4AB9115C}"/>
              </a:ext>
            </a:extLst>
          </p:cNvPr>
          <p:cNvSpPr/>
          <p:nvPr/>
        </p:nvSpPr>
        <p:spPr>
          <a:xfrm>
            <a:off x="626364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0.655</a:t>
            </a:r>
            <a:endParaRPr lang="en-US" sz="4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C59228C-2590-C74A-AC54-6922EDBBEAFA}"/>
              </a:ext>
            </a:extLst>
          </p:cNvPr>
          <p:cNvSpPr/>
          <p:nvPr/>
        </p:nvSpPr>
        <p:spPr>
          <a:xfrm>
            <a:off x="626364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private-split token F1</a:t>
            </a:r>
            <a:endParaRPr lang="en-US" sz="11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C8BD728-324B-BE26-2DF7-7A6469BD9BB8}"/>
              </a:ext>
            </a:extLst>
          </p:cNvPr>
          <p:cNvSpPr/>
          <p:nvPr/>
        </p:nvSpPr>
        <p:spPr>
          <a:xfrm>
            <a:off x="626364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 pts</a:t>
            </a:r>
            <a:r>
              <a:rPr lang="en-US" sz="130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fine-tuned model — with no training at all.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>
            <a:extLst>
              <a:ext uri="{FF2B5EF4-FFF2-40B4-BE49-F238E27FC236}">
                <a16:creationId xmlns:a16="http://schemas.microsoft.com/office/drawing/2014/main" id="{A33E6A67-EED5-B033-8DEC-4B3F3FC8D8A9}"/>
              </a:ext>
            </a:extLst>
          </p:cNvPr>
          <p:cNvSpPr/>
          <p:nvPr/>
        </p:nvSpPr>
        <p:spPr>
          <a:xfrm>
            <a:off x="458447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Where It Wins, Where It Breaks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90810CE4-0289-9D46-7D53-71C90FC734D5}"/>
              </a:ext>
            </a:extLst>
          </p:cNvPr>
          <p:cNvSpPr/>
          <p:nvPr/>
        </p:nvSpPr>
        <p:spPr>
          <a:xfrm>
            <a:off x="548640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EFE9171-2855-66EB-5755-C13FB94B65CA}"/>
              </a:ext>
            </a:extLst>
          </p:cNvPr>
          <p:cNvSpPr/>
          <p:nvPr/>
        </p:nvSpPr>
        <p:spPr>
          <a:xfrm>
            <a:off x="68580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47.3%</a:t>
            </a:r>
            <a:endParaRPr lang="en-US" sz="30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CEA0EB11-B287-767B-417F-2B4EBDC3404A}"/>
              </a:ext>
            </a:extLst>
          </p:cNvPr>
          <p:cNvSpPr/>
          <p:nvPr/>
        </p:nvSpPr>
        <p:spPr>
          <a:xfrm>
            <a:off x="658368" y="21031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perfect answers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ABF91CC2-9A79-A0E3-0C1D-6942131C6705}"/>
              </a:ext>
            </a:extLst>
          </p:cNvPr>
          <p:cNvSpPr/>
          <p:nvPr/>
        </p:nvSpPr>
        <p:spPr>
          <a:xfrm>
            <a:off x="2633472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6328058F-E4E4-D6AB-61E7-51433DB4A6D0}"/>
              </a:ext>
            </a:extLst>
          </p:cNvPr>
          <p:cNvSpPr/>
          <p:nvPr/>
        </p:nvSpPr>
        <p:spPr>
          <a:xfrm>
            <a:off x="2770632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31.6%</a:t>
            </a:r>
            <a:endParaRPr lang="en-US" sz="30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DA0D7B7B-4E39-2E85-0D6C-2D8C46350A29}"/>
              </a:ext>
            </a:extLst>
          </p:cNvPr>
          <p:cNvSpPr/>
          <p:nvPr/>
        </p:nvSpPr>
        <p:spPr>
          <a:xfrm>
            <a:off x="2743200" y="21031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 misses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078298B9-36B9-719E-1346-08F04FB2BA97}"/>
              </a:ext>
            </a:extLst>
          </p:cNvPr>
          <p:cNvSpPr/>
          <p:nvPr/>
        </p:nvSpPr>
        <p:spPr>
          <a:xfrm>
            <a:off x="4718304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01E568FA-9A75-C24E-F974-0A3AE3F8F2DA}"/>
              </a:ext>
            </a:extLst>
          </p:cNvPr>
          <p:cNvSpPr/>
          <p:nvPr/>
        </p:nvSpPr>
        <p:spPr>
          <a:xfrm>
            <a:off x="4855464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69.8%</a:t>
            </a:r>
            <a:endParaRPr lang="en-US" sz="30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A86A9B5-7A08-C095-88A7-7791A75E9113}"/>
              </a:ext>
            </a:extLst>
          </p:cNvPr>
          <p:cNvSpPr/>
          <p:nvPr/>
        </p:nvSpPr>
        <p:spPr>
          <a:xfrm>
            <a:off x="4828032" y="21031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perfect on 1-word answers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C7138903-A63D-84E6-BA54-86C22F345F08}"/>
              </a:ext>
            </a:extLst>
          </p:cNvPr>
          <p:cNvSpPr/>
          <p:nvPr/>
        </p:nvSpPr>
        <p:spPr>
          <a:xfrm>
            <a:off x="6803136" y="1371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4FA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0AC0B34C-DA1F-7A12-9D17-914B211E0CFA}"/>
              </a:ext>
            </a:extLst>
          </p:cNvPr>
          <p:cNvSpPr/>
          <p:nvPr/>
        </p:nvSpPr>
        <p:spPr>
          <a:xfrm>
            <a:off x="6940296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3.8%</a:t>
            </a:r>
            <a:endParaRPr lang="en-US" sz="30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87912C55-C9F5-611E-5281-1445D2C082B1}"/>
              </a:ext>
            </a:extLst>
          </p:cNvPr>
          <p:cNvSpPr/>
          <p:nvPr/>
        </p:nvSpPr>
        <p:spPr>
          <a:xfrm>
            <a:off x="6912864" y="21031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4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perfect on 6+ word answers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AD24846D-AB3D-EF15-638B-0F5E1FDE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82112"/>
            <a:ext cx="237744" cy="237744"/>
          </a:xfrm>
          <a:prstGeom prst="rect">
            <a:avLst/>
          </a:prstGeom>
        </p:spPr>
      </p:pic>
      <p:sp>
        <p:nvSpPr>
          <p:cNvPr id="41" name="Text 13">
            <a:extLst>
              <a:ext uri="{FF2B5EF4-FFF2-40B4-BE49-F238E27FC236}">
                <a16:creationId xmlns:a16="http://schemas.microsoft.com/office/drawing/2014/main" id="{E5C31307-2E72-5F2B-5058-81969D862E5A}"/>
              </a:ext>
            </a:extLst>
          </p:cNvPr>
          <p:cNvSpPr/>
          <p:nvPr/>
        </p:nvSpPr>
        <p:spPr>
          <a:xfrm>
            <a:off x="960120" y="3154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4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Longer answers → sharp drop. The model prefers single short entities.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695BA7B7-1E67-5B45-C337-95A23DA7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57600"/>
            <a:ext cx="237744" cy="237744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F8CF216E-E662-F28C-721F-16FF50B1567D}"/>
              </a:ext>
            </a:extLst>
          </p:cNvPr>
          <p:cNvSpPr/>
          <p:nvPr/>
        </p:nvSpPr>
        <p:spPr>
          <a:xfrm>
            <a:off x="960120" y="36301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4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Biggest failure cell: 2-word facts (dates, compound names) missed entirely.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D245E3C9-45F8-D486-B75B-43B0CB1F3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33088"/>
            <a:ext cx="237744" cy="237744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126B2205-3D35-21D7-6F0E-243DFEC6494E}"/>
              </a:ext>
            </a:extLst>
          </p:cNvPr>
          <p:cNvSpPr/>
          <p:nvPr/>
        </p:nvSpPr>
        <p:spPr>
          <a:xfrm>
            <a:off x="960120" y="410565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4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causes: answer not retrieved, or the model hallucinates a lookalike.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40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txBody>
          <a:bodyPr lIns="525600" tIns="10800" rIns="91440" bIns="10800" anchor="ctr">
            <a:noAutofit/>
          </a:bodyPr>
          <a:lstStyle/>
          <a:p>
            <a:pPr indent="0" algn="l">
              <a:buNone/>
            </a:pPr>
            <a:r>
              <a:rPr lang="en-US" sz="3800" b="1" strike="noStrike" spc="-1" dirty="0">
                <a:solidFill>
                  <a:srgbClr val="0B3C49"/>
                </a:solidFill>
                <a:latin typeface="Times New Roman"/>
                <a:ea typeface="Times New Roman"/>
                <a:cs typeface="Times New Roman"/>
              </a:rPr>
              <a:t>Limitations &amp; Next Steps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000" y="1975182"/>
            <a:ext cx="8230000" cy="5060000"/>
          </a:xfrm>
          <a:prstGeom prst="rect">
            <a:avLst/>
          </a:prstGeom>
          <a:noFill/>
          <a:ln w="0">
            <a:noFill/>
          </a:ln>
        </p:spPr>
        <p:txBody>
          <a:bodyPr lIns="18000" tIns="10800" rIns="18000" bIns="10800" anchor="t">
            <a:normAutofit/>
          </a:bodyPr>
          <a:lstStyle/>
          <a:p>
            <a:pPr marL="320040" indent="-320040" algn="l">
              <a:lnSpc>
                <a:spcPct val="104000"/>
              </a:lnSpc>
              <a:spcBef>
                <a:spcPts val="850"/>
              </a:spcBef>
              <a:buSzPct val="80000"/>
              <a:buBlip>
                <a:blip r:embed="rId2"/>
              </a:buBlip>
            </a:pPr>
            <a:r>
              <a:rPr lang="en-US" sz="1600" b="1" strike="noStrike" spc="-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Retrieval ceiling: 75.3%  </a:t>
            </a:r>
            <a:r>
              <a:rPr lang="en-US" sz="14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— if the answer isn’t retrieved, it can’t be answered. Next: better chunking + a cross-encoder re-ranker.</a:t>
            </a:r>
          </a:p>
          <a:p>
            <a:pPr marL="320040" indent="-320040" algn="l">
              <a:lnSpc>
                <a:spcPct val="104000"/>
              </a:lnSpc>
              <a:spcBef>
                <a:spcPts val="850"/>
              </a:spcBef>
              <a:buSzPct val="80000"/>
              <a:buBlip>
                <a:blip r:embed="rId2"/>
              </a:buBlip>
            </a:pPr>
            <a:r>
              <a:rPr lang="en-US" sz="1600" b="1" strike="noStrike" spc="-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Weak Bengali knowledge  </a:t>
            </a:r>
            <a:r>
              <a:rPr lang="en-US" sz="14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— off-context questions force guesses → hallucination. Next: morpheme-aware tokenizer for BM25 recall.</a:t>
            </a:r>
          </a:p>
          <a:p>
            <a:pPr marL="320040" indent="-320040" algn="l">
              <a:lnSpc>
                <a:spcPct val="104000"/>
              </a:lnSpc>
              <a:spcBef>
                <a:spcPts val="850"/>
              </a:spcBef>
              <a:buSzPct val="80000"/>
              <a:buBlip>
                <a:blip r:embed="rId2"/>
              </a:buBlip>
            </a:pPr>
            <a:r>
              <a:rPr lang="en-US" sz="1600" b="1" strike="noStrike" spc="-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Short-answer bias  </a:t>
            </a:r>
            <a:r>
              <a:rPr lang="en-US" sz="14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— 16-token cap + terse prompting hurt long gold answers. Next: adaptive length caps by question type.</a:t>
            </a:r>
          </a:p>
          <a:p>
            <a:pPr marL="320040" indent="-320040" algn="l">
              <a:lnSpc>
                <a:spcPct val="104000"/>
              </a:lnSpc>
              <a:spcBef>
                <a:spcPts val="850"/>
              </a:spcBef>
              <a:buSzPct val="80000"/>
              <a:buBlip>
                <a:blip r:embed="rId2"/>
              </a:buBlip>
            </a:pPr>
            <a:r>
              <a:rPr lang="en-US" sz="1600" b="1" strike="noStrike" spc="-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Bigger fine-tuned generator</a:t>
            </a:r>
            <a:r>
              <a:rPr lang="en-US" sz="14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 — a higher-capacity LLM (20–30B) fine-tuned with </a:t>
            </a:r>
            <a:r>
              <a:rPr lang="en-US" sz="1400" b="0" strike="noStrike" spc="-1" dirty="0" err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Unsloth</a:t>
            </a:r>
            <a:r>
              <a:rPr lang="en-US" sz="1400" b="0" strike="noStrike" spc="-1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would improve answer generation and lift the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67953D6-B53A-791D-9BBC-1D90CCDDB527}"/>
              </a:ext>
            </a:extLst>
          </p:cNvPr>
          <p:cNvSpPr/>
          <p:nvPr/>
        </p:nvSpPr>
        <p:spPr>
          <a:xfrm>
            <a:off x="384048" y="1005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Takeaway</a:t>
            </a:r>
            <a:endParaRPr lang="en-US" sz="40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432834-BAFF-8879-F4BE-F496C6C361AD}"/>
              </a:ext>
            </a:extLst>
          </p:cNvPr>
          <p:cNvSpPr/>
          <p:nvPr/>
        </p:nvSpPr>
        <p:spPr>
          <a:xfrm>
            <a:off x="566928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no-training, single-free-GPU limits, strong retrieval is the most effective route to accurate closed-domain Bengali QA.</a:t>
            </a:r>
            <a:endParaRPr lang="en-US" sz="21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B88A534-44DB-8EA9-DD7B-032C4E655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871216"/>
            <a:ext cx="256032" cy="256032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FCC35FF-A2EC-3BF1-BDCB-5B37FF5234EC}"/>
              </a:ext>
            </a:extLst>
          </p:cNvPr>
          <p:cNvSpPr/>
          <p:nvPr/>
        </p:nvSpPr>
        <p:spPr>
          <a:xfrm>
            <a:off x="100584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nothing — retrieve well, prompt with 5 good examples</a:t>
            </a:r>
            <a:endParaRPr lang="en-US" sz="16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7500DCB6-EBC9-7677-259C-1CFCA1E2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374136"/>
            <a:ext cx="256032" cy="25603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94AC5207-ADA1-29B6-DB9B-BC2C938214C8}"/>
              </a:ext>
            </a:extLst>
          </p:cNvPr>
          <p:cNvSpPr/>
          <p:nvPr/>
        </p:nvSpPr>
        <p:spPr>
          <a:xfrm>
            <a:off x="100584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Fits a free 15 GB GPU by never loading two models at once</a:t>
            </a:r>
            <a:endParaRPr lang="en-US" sz="16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648E4633-CC7A-D8D7-C11C-222EC0E3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877056"/>
            <a:ext cx="256032" cy="25603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43007815-6CF5-7218-127A-848903CD61C2}"/>
              </a:ext>
            </a:extLst>
          </p:cNvPr>
          <p:cNvSpPr/>
          <p:nvPr/>
        </p:nvSpPr>
        <p:spPr>
          <a:xfrm>
            <a:off x="100584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0.655 F1 — top of both previous approaches.</a:t>
            </a:r>
            <a:endParaRPr lang="en-US" sz="1600" dirty="0">
              <a:solidFill>
                <a:srgbClr val="0B3C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D499FFB-6576-6AB3-E9AF-6B5311DC07C0}"/>
              </a:ext>
            </a:extLst>
          </p:cNvPr>
          <p:cNvSpPr/>
          <p:nvPr/>
        </p:nvSpPr>
        <p:spPr>
          <a:xfrm>
            <a:off x="601841" y="3417415"/>
            <a:ext cx="237744" cy="23774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A58DFBE-84FA-7B5F-F78A-6C51CC4E931E}"/>
              </a:ext>
            </a:extLst>
          </p:cNvPr>
          <p:cNvSpPr/>
          <p:nvPr/>
        </p:nvSpPr>
        <p:spPr>
          <a:xfrm>
            <a:off x="601841" y="3945325"/>
            <a:ext cx="237744" cy="23774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E38ED74-BC95-1883-0514-E23860D2914E}"/>
              </a:ext>
            </a:extLst>
          </p:cNvPr>
          <p:cNvSpPr/>
          <p:nvPr/>
        </p:nvSpPr>
        <p:spPr>
          <a:xfrm>
            <a:off x="588956" y="2931483"/>
            <a:ext cx="237744" cy="237744"/>
          </a:xfrm>
          <a:prstGeom prst="ellipse">
            <a:avLst/>
          </a:prstGeom>
          <a:solidFill>
            <a:srgbClr val="146C7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54B13-7BDB-F536-506F-F022F4AD6D9D}"/>
              </a:ext>
            </a:extLst>
          </p:cNvPr>
          <p:cNvSpPr txBox="1"/>
          <p:nvPr/>
        </p:nvSpPr>
        <p:spPr>
          <a:xfrm>
            <a:off x="3522642" y="3325090"/>
            <a:ext cx="20987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B3C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33831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1327</TotalTime>
  <Words>713</Words>
  <Application>Microsoft Office PowerPoint</Application>
  <PresentationFormat>On-screen Show (4:3)</PresentationFormat>
  <Paragraphs>99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Noto Serif Bengali</vt:lpstr>
      <vt:lpstr>Arial</vt:lpstr>
      <vt:lpstr>Arial Narrow</vt:lpstr>
      <vt:lpstr>Calibri</vt:lpstr>
      <vt:lpstr>Cambria</vt:lpstr>
      <vt:lpstr>Constantia</vt:lpstr>
      <vt:lpstr>Tahoma</vt:lpstr>
      <vt:lpstr>Times New Roman</vt:lpstr>
      <vt:lpstr>Office</vt:lpstr>
      <vt:lpstr>Office</vt:lpstr>
      <vt:lpstr>Office</vt:lpstr>
      <vt:lpstr>HARBOR-QA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5 Few-Shot Examples</vt:lpstr>
      <vt:lpstr>PowerPoint Presentation</vt:lpstr>
      <vt:lpstr>PowerPoint Presentation</vt:lpstr>
      <vt:lpstr>Limitations &amp; Next Steps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Snik Drek</cp:lastModifiedBy>
  <cp:revision>3</cp:revision>
  <dcterms:modified xsi:type="dcterms:W3CDTF">2026-06-14T16:33:33Z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2012-03-24T22:43:44Z</dcterms:created>
  <dc:creator>priyam</dc:creator>
  <dc:description/>
  <dc:language>en-US</dc:language>
  <cp:lastModifiedBy>Zakia</cp:lastModifiedBy>
  <dcterms:modified xsi:type="dcterms:W3CDTF">2013-02-26T07:07:00Z</dcterms:modified>
  <cp:revision>376</cp:revision>
  <dc:subject/>
  <dc:title>Slide 1</dc:title>
</cp:coreProperties>
</file>